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oppins Medium"/>
      <p:regular r:id="rId19"/>
      <p:bold r:id="rId20"/>
      <p:italic r:id="rId21"/>
      <p:boldItalic r:id="rId22"/>
    </p:embeddedFont>
    <p:embeddedFont>
      <p:font typeface="Nunito Sans SemiBold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Nunito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E354AE-7F10-492D-AC79-F1CE34F5655A}">
  <a:tblStyle styleId="{C1E354AE-7F10-492D-AC79-F1CE34F565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bold.fntdata"/><Relationship Id="rId22" Type="http://schemas.openxmlformats.org/officeDocument/2006/relationships/font" Target="fonts/PoppinsMedium-boldItalic.fntdata"/><Relationship Id="rId21" Type="http://schemas.openxmlformats.org/officeDocument/2006/relationships/font" Target="fonts/PoppinsMedium-italic.fntdata"/><Relationship Id="rId24" Type="http://schemas.openxmlformats.org/officeDocument/2006/relationships/font" Target="fonts/NunitoSansSemiBold-bold.fntdata"/><Relationship Id="rId23" Type="http://schemas.openxmlformats.org/officeDocument/2006/relationships/font" Target="fonts/Nunito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SansSemiBold-boldItalic.fntdata"/><Relationship Id="rId25" Type="http://schemas.openxmlformats.org/officeDocument/2006/relationships/font" Target="fonts/NunitoSansSemiBold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Sans-regular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Sans-italic.fntdata"/><Relationship Id="rId10" Type="http://schemas.openxmlformats.org/officeDocument/2006/relationships/slide" Target="slides/slide4.xml"/><Relationship Id="rId32" Type="http://schemas.openxmlformats.org/officeDocument/2006/relationships/font" Target="fonts/Nunito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NunitoSans-boldItalic.fntdata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PoppinsMedium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8bb1bf7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8bb1bf7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8bb1bf78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8bb1bf78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9d44474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d9d44474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8bb1bf786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8bb1bf786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8bb1bf786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d8bb1bf786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8bb1bf786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8bb1bf786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4 players score above team average — offense runs through Carter, Johnson, Williams &amp; Thompson.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8bb1bf78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8bb1bf7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Only starter to play all 20 games injury-free. Monitor his workload.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80% of roster had injury events. Proactive load management needed.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Turnovers jump 67% away. Add targeted practice before road trips.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Use efficiency ratings to define roles and prioritize high performers.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Anderson on IR, Davis injury-prone. Thinnest positions on the roster.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8bb1bf786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d8bb1bf786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22" name="Google Shape;22;p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" name="Google Shape;23;p3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" name="Google Shape;35;p5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" name="Google Shape;36;p5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5" name="Google Shape;45;p5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" name="Google Shape;48;p5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" name="Google Shape;49;p5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1" name="Google Shape;61;p6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3" name="Google Shape;63;p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5" name="Google Shape;65;p6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8" name="Google Shape;68;p6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9" name="Google Shape;69;p6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" name="Google Shape;71;p6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2" name="Google Shape;72;p6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75" name="Google Shape;75;p6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1" name="Google Shape;81;p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3" name="Google Shape;83;p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3" name="Google Shape;93;p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98" name="Google Shape;98;p10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6" name="Google Shape;116;p1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7" name="Google Shape;117;p11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1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2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2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30" name="Google Shape;130;p12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" name="Google Shape;131;p12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2" name="Google Shape;132;p12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2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13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42" name="Google Shape;142;p13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4" name="Google Shape;144;p13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6" name="Google Shape;146;p13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53" name="Google Shape;153;p14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4" name="Google Shape;154;p14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14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56" name="Google Shape;156;p14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1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65" name="Google Shape;165;p1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66" name="Google Shape;166;p1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7" name="Google Shape;167;p15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" name="Google Shape;169;p1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2" name="Google Shape;172;p16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5" name="Google Shape;175;p16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6" name="Google Shape;176;p16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7" name="Google Shape;177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8" name="Google Shape;178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16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3" name="Google Shape;183;p17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4" name="Google Shape;184;p17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7" name="Google Shape;187;p17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0" name="Google Shape;190;p17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7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6" name="Google Shape;196;p18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7" name="Google Shape;197;p18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8" name="Google Shape;198;p18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9" name="Google Shape;199;p18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0" name="Google Shape;200;p18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2" name="Google Shape;202;p18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3" name="Google Shape;203;p18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6" name="Google Shape;206;p18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9" name="Google Shape;209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19" name="Google Shape;219;p18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0" name="Google Shape;220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p1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19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3" name="Google Shape;233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4" name="Google Shape;234;p19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5" name="Google Shape;24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6" name="Google Shape;246;p20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0" name="Google Shape;250;p20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2" name="Google Shape;252;p20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4" name="Google Shape;254;p20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5" name="Google Shape;255;p20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7" name="Google Shape;257;p20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0" name="Google Shape;260;p20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20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8" name="Google Shape;268;p21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9" name="Google Shape;269;p21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2" name="Google Shape;272;p2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4" name="Google Shape;274;p21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5" name="Google Shape;275;p21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6" name="Google Shape;276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21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2" name="Google Shape;282;p22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4" name="Google Shape;284;p22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22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2" name="Google Shape;292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2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2" name="Google Shape;302;p23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3" name="Google Shape;303;p23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4" name="Google Shape;304;p23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5" name="Google Shape;305;p2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6" name="Google Shape;306;p23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7" name="Google Shape;307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23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4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4" name="Google Shape;314;p24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4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6" name="Google Shape;316;p24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7" name="Google Shape;317;p24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8" name="Google Shape;318;p24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25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24" name="Google Shape;324;p25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25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40" name="Google Shape;34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4" name="Google Shape;344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9" name="Google Shape;349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5" name="Google Shape;365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3" name="Google Shape;373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3" name="Google Shape;383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7" name="Google Shape;397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0" name="Google Shape;400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6" name="Google Shape;406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9" name="Google Shape;419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903150" y="1349425"/>
            <a:ext cx="7337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 Men’s Basketball Database</a:t>
            </a:r>
            <a:endParaRPr/>
          </a:p>
        </p:txBody>
      </p:sp>
      <p:sp>
        <p:nvSpPr>
          <p:cNvPr id="427" name="Google Shape;427;p45"/>
          <p:cNvSpPr txBox="1"/>
          <p:nvPr>
            <p:ph idx="1" type="subTitle"/>
          </p:nvPr>
        </p:nvSpPr>
        <p:spPr>
          <a:xfrm>
            <a:off x="1814050" y="3341375"/>
            <a:ext cx="48618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centralized </a:t>
            </a:r>
            <a:r>
              <a:rPr lang="en"/>
              <a:t>data system for coaching decision</a:t>
            </a:r>
            <a:endParaRPr/>
          </a:p>
        </p:txBody>
      </p:sp>
      <p:sp>
        <p:nvSpPr>
          <p:cNvPr id="428" name="Google Shape;428;p45"/>
          <p:cNvSpPr/>
          <p:nvPr/>
        </p:nvSpPr>
        <p:spPr>
          <a:xfrm>
            <a:off x="117650" y="3934625"/>
            <a:ext cx="1535100" cy="1123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Ingrid Pagan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Gage Owen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Teague Calvin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Jordan Anderson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29" name="Google Shape;429;p45"/>
          <p:cNvSpPr/>
          <p:nvPr/>
        </p:nvSpPr>
        <p:spPr>
          <a:xfrm rot="-395291">
            <a:off x="2783276" y="29832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0" name="Google Shape;430;p45"/>
          <p:cNvSpPr/>
          <p:nvPr/>
        </p:nvSpPr>
        <p:spPr>
          <a:xfrm rot="-509448">
            <a:off x="3949321" y="31062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"/>
          <p:cNvSpPr txBox="1"/>
          <p:nvPr>
            <p:ph type="title"/>
          </p:nvPr>
        </p:nvSpPr>
        <p:spPr>
          <a:xfrm>
            <a:off x="228600" y="256925"/>
            <a:ext cx="5707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</a:t>
            </a:r>
            <a:r>
              <a:rPr lang="en" sz="3000"/>
              <a:t>Problem</a:t>
            </a:r>
            <a:endParaRPr sz="3000"/>
          </a:p>
        </p:txBody>
      </p:sp>
      <p:sp>
        <p:nvSpPr>
          <p:cNvPr id="436" name="Google Shape;436;p46"/>
          <p:cNvSpPr txBox="1"/>
          <p:nvPr>
            <p:ph idx="1" type="body"/>
          </p:nvPr>
        </p:nvSpPr>
        <p:spPr>
          <a:xfrm>
            <a:off x="228600" y="1325925"/>
            <a:ext cx="4778700" cy="4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Player data is scattered across:</a:t>
            </a:r>
            <a:endParaRPr sz="2100"/>
          </a:p>
        </p:txBody>
      </p:sp>
      <p:grpSp>
        <p:nvGrpSpPr>
          <p:cNvPr id="437" name="Google Shape;437;p46"/>
          <p:cNvGrpSpPr/>
          <p:nvPr/>
        </p:nvGrpSpPr>
        <p:grpSpPr>
          <a:xfrm>
            <a:off x="974540" y="715615"/>
            <a:ext cx="1605959" cy="270489"/>
            <a:chOff x="308528" y="1555007"/>
            <a:chExt cx="1986589" cy="270489"/>
          </a:xfrm>
        </p:grpSpPr>
        <p:sp>
          <p:nvSpPr>
            <p:cNvPr id="438" name="Google Shape;438;p46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9" name="Google Shape;439;p46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440" name="Google Shape;440;p46"/>
          <p:cNvGrpSpPr/>
          <p:nvPr/>
        </p:nvGrpSpPr>
        <p:grpSpPr>
          <a:xfrm>
            <a:off x="1616688" y="2102844"/>
            <a:ext cx="5910623" cy="2809382"/>
            <a:chOff x="4054629" y="1601002"/>
            <a:chExt cx="4661742" cy="2215775"/>
          </a:xfrm>
        </p:grpSpPr>
        <p:grpSp>
          <p:nvGrpSpPr>
            <p:cNvPr id="441" name="Google Shape;441;p46"/>
            <p:cNvGrpSpPr/>
            <p:nvPr/>
          </p:nvGrpSpPr>
          <p:grpSpPr>
            <a:xfrm>
              <a:off x="4054629" y="1601002"/>
              <a:ext cx="4661742" cy="287100"/>
              <a:chOff x="667575" y="3817870"/>
              <a:chExt cx="4661742" cy="287100"/>
            </a:xfrm>
          </p:grpSpPr>
          <p:sp>
            <p:nvSpPr>
              <p:cNvPr id="442" name="Google Shape;442;p46"/>
              <p:cNvSpPr/>
              <p:nvPr/>
            </p:nvSpPr>
            <p:spPr>
              <a:xfrm>
                <a:off x="667575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5925" lIns="115925" spcFirstLastPara="1" rIns="115925" wrap="square" tIns="115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1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Spreadsheets</a:t>
                </a:r>
                <a:endParaRPr sz="1251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443" name="Google Shape;443;p46"/>
              <p:cNvSpPr/>
              <p:nvPr/>
            </p:nvSpPr>
            <p:spPr>
              <a:xfrm>
                <a:off x="2265396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5925" lIns="115925" spcFirstLastPara="1" rIns="115925" wrap="square" tIns="115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1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Handwritten Notes</a:t>
                </a:r>
                <a:endParaRPr sz="1251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444" name="Google Shape;444;p46"/>
              <p:cNvSpPr/>
              <p:nvPr/>
            </p:nvSpPr>
            <p:spPr>
              <a:xfrm>
                <a:off x="3863217" y="3817870"/>
                <a:ext cx="14661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5925" lIns="115925" spcFirstLastPara="1" rIns="115925" wrap="square" tIns="115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1">
                    <a:solidFill>
                      <a:schemeClr val="dk2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Stat Websites</a:t>
                </a:r>
                <a:endParaRPr sz="1251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sp>
          <p:nvSpPr>
            <p:cNvPr id="445" name="Google Shape;445;p46"/>
            <p:cNvSpPr/>
            <p:nvPr/>
          </p:nvSpPr>
          <p:spPr>
            <a:xfrm>
              <a:off x="5642391" y="3064078"/>
              <a:ext cx="1466100" cy="7527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5925" lIns="115925" spcFirstLastPara="1" rIns="115925" wrap="square" tIns="11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1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Coaches can’t quickly compare players, track injuries, or spot trends.</a:t>
              </a:r>
              <a:endParaRPr sz="1151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446" name="Google Shape;446;p46"/>
            <p:cNvGrpSpPr/>
            <p:nvPr/>
          </p:nvGrpSpPr>
          <p:grpSpPr>
            <a:xfrm>
              <a:off x="4787679" y="1888102"/>
              <a:ext cx="3195600" cy="1230000"/>
              <a:chOff x="4787679" y="1888102"/>
              <a:chExt cx="3195600" cy="1230000"/>
            </a:xfrm>
          </p:grpSpPr>
          <p:cxnSp>
            <p:nvCxnSpPr>
              <p:cNvPr id="447" name="Google Shape;447;p46"/>
              <p:cNvCxnSpPr>
                <a:stCxn id="443" idx="2"/>
              </p:cNvCxnSpPr>
              <p:nvPr/>
            </p:nvCxnSpPr>
            <p:spPr>
              <a:xfrm flipH="1">
                <a:off x="6365400" y="1888102"/>
                <a:ext cx="20100" cy="1230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46"/>
              <p:cNvCxnSpPr>
                <a:stCxn id="442" idx="2"/>
                <a:endCxn id="444" idx="2"/>
              </p:cNvCxnSpPr>
              <p:nvPr/>
            </p:nvCxnSpPr>
            <p:spPr>
              <a:xfrm flipH="1" rot="-5400000">
                <a:off x="6385329" y="290452"/>
                <a:ext cx="300" cy="3195600"/>
              </a:xfrm>
              <a:prstGeom prst="bentConnector3">
                <a:avLst>
                  <a:gd fmla="val 39687500" name="adj1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7" title="Screenshot 2026-04-27 at 5.1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113" y="199088"/>
            <a:ext cx="7443674" cy="474532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7"/>
          <p:cNvSpPr txBox="1"/>
          <p:nvPr/>
        </p:nvSpPr>
        <p:spPr>
          <a:xfrm rot="-5400000">
            <a:off x="-1251925" y="2102175"/>
            <a:ext cx="3438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ER DIAGRAM</a:t>
            </a:r>
            <a:endParaRPr b="1" sz="3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 txBox="1"/>
          <p:nvPr>
            <p:ph type="title"/>
          </p:nvPr>
        </p:nvSpPr>
        <p:spPr>
          <a:xfrm>
            <a:off x="228600" y="256925"/>
            <a:ext cx="8552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 </a:t>
            </a:r>
            <a:r>
              <a:rPr lang="en" sz="1500"/>
              <a:t>- </a:t>
            </a:r>
            <a:r>
              <a:rPr lang="en" sz="1500"/>
              <a:t>8 normalized tables, fully in 3NF</a:t>
            </a:r>
            <a:endParaRPr sz="1500"/>
          </a:p>
        </p:txBody>
      </p:sp>
      <p:sp>
        <p:nvSpPr>
          <p:cNvPr id="460" name="Google Shape;460;p48"/>
          <p:cNvSpPr txBox="1"/>
          <p:nvPr/>
        </p:nvSpPr>
        <p:spPr>
          <a:xfrm>
            <a:off x="8399690" y="2661836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2921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"/>
              <a:buChar char="➔"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61" name="Google Shape;461;p48"/>
          <p:cNvGraphicFramePr/>
          <p:nvPr/>
        </p:nvGraphicFramePr>
        <p:xfrm>
          <a:off x="313100" y="136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{C1E354AE-7F10-492D-AC79-F1CE34F5655A}</a:tableStyleId>
              </a:tblPr>
              <a:tblGrid>
                <a:gridCol w="4173650"/>
                <a:gridCol w="4173650"/>
              </a:tblGrid>
              <a:tr h="8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PLAYER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Profile, Position, Injury Status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PLAYER_RATING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Efficiency ratings over time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GAME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Date, Opponent, Home/Away, Season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SEASON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Multi-year tracking (new)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GAME_STATS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Pre-game stats - junction table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POSITION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Lookup - 5 positions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PLAYER_INJURY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Full </a:t>
                      </a:r>
                      <a:r>
                        <a:rPr b="1" lang="en">
                          <a:solidFill>
                            <a:schemeClr val="dk2"/>
                          </a:solidFill>
                        </a:rPr>
                        <a:t>injury history log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INJURY_STATUS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Lookup - 4 status level 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pSp>
        <p:nvGrpSpPr>
          <p:cNvPr id="462" name="Google Shape;462;p48"/>
          <p:cNvGrpSpPr/>
          <p:nvPr/>
        </p:nvGrpSpPr>
        <p:grpSpPr>
          <a:xfrm>
            <a:off x="974540" y="715615"/>
            <a:ext cx="1605959" cy="270489"/>
            <a:chOff x="308528" y="1555007"/>
            <a:chExt cx="1986589" cy="270489"/>
          </a:xfrm>
        </p:grpSpPr>
        <p:sp>
          <p:nvSpPr>
            <p:cNvPr id="463" name="Google Shape;463;p48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64" name="Google Shape;464;p48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Key Design Decisions </a:t>
            </a:r>
            <a:endParaRPr/>
          </a:p>
        </p:txBody>
      </p:sp>
      <p:sp>
        <p:nvSpPr>
          <p:cNvPr id="470" name="Google Shape;470;p49"/>
          <p:cNvSpPr txBox="1"/>
          <p:nvPr>
            <p:ph idx="2" type="title"/>
          </p:nvPr>
        </p:nvSpPr>
        <p:spPr>
          <a:xfrm>
            <a:off x="2040638" y="2440994"/>
            <a:ext cx="2758200" cy="7842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Resolves the many-to-many between players and games. UNIQUE(PlayerID, GameID) prevents duplicate entries.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9"/>
          <p:cNvSpPr txBox="1"/>
          <p:nvPr>
            <p:ph idx="4" type="title"/>
          </p:nvPr>
        </p:nvSpPr>
        <p:spPr>
          <a:xfrm>
            <a:off x="6589263" y="3060550"/>
            <a:ext cx="2101200" cy="845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Rating = (Pts + Reb + Ast − TO) ÷ Min. Stored with a timestamp so coaches can track development over time.</a:t>
            </a:r>
            <a:endParaRPr sz="1100"/>
          </a:p>
        </p:txBody>
      </p:sp>
      <p:sp>
        <p:nvSpPr>
          <p:cNvPr id="472" name="Google Shape;472;p49"/>
          <p:cNvSpPr txBox="1"/>
          <p:nvPr>
            <p:ph idx="5" type="title"/>
          </p:nvPr>
        </p:nvSpPr>
        <p:spPr>
          <a:xfrm>
            <a:off x="228538" y="2111750"/>
            <a:ext cx="1705800" cy="1383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Position and Injury Status are separate lookup tables - no transitive dependencies, consistent data entry enforced.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73" name="Google Shape;473;p49"/>
          <p:cNvSpPr/>
          <p:nvPr/>
        </p:nvSpPr>
        <p:spPr>
          <a:xfrm>
            <a:off x="228538" y="1618922"/>
            <a:ext cx="2101200" cy="257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3NF Normalization</a:t>
            </a:r>
            <a:endParaRPr sz="11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281451" y="1681385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75" name="Google Shape;475;p49"/>
          <p:cNvCxnSpPr/>
          <p:nvPr/>
        </p:nvCxnSpPr>
        <p:spPr>
          <a:xfrm>
            <a:off x="352851" y="1831124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49"/>
          <p:cNvSpPr/>
          <p:nvPr/>
        </p:nvSpPr>
        <p:spPr>
          <a:xfrm>
            <a:off x="2040638" y="1929445"/>
            <a:ext cx="3275700" cy="257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GAME_STATS as Junction Table</a:t>
            </a:r>
            <a:endParaRPr sz="11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2093551" y="1991907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78" name="Google Shape;478;p49"/>
          <p:cNvCxnSpPr/>
          <p:nvPr/>
        </p:nvCxnSpPr>
        <p:spPr>
          <a:xfrm>
            <a:off x="2164951" y="2140239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49"/>
          <p:cNvSpPr/>
          <p:nvPr/>
        </p:nvSpPr>
        <p:spPr>
          <a:xfrm>
            <a:off x="4905038" y="2257897"/>
            <a:ext cx="2101200" cy="257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SEASON Table</a:t>
            </a:r>
            <a:endParaRPr sz="11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0" name="Google Shape;480;p49"/>
          <p:cNvSpPr txBox="1"/>
          <p:nvPr/>
        </p:nvSpPr>
        <p:spPr>
          <a:xfrm>
            <a:off x="4905038" y="2728375"/>
            <a:ext cx="1564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Added based on professor feedback. Every game ties to a season, this enables year-over-year analysis as data grows.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4957951" y="2320359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82" name="Google Shape;482;p49"/>
          <p:cNvCxnSpPr/>
          <p:nvPr/>
        </p:nvCxnSpPr>
        <p:spPr>
          <a:xfrm>
            <a:off x="5029351" y="2463767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9"/>
          <p:cNvSpPr/>
          <p:nvPr/>
        </p:nvSpPr>
        <p:spPr>
          <a:xfrm>
            <a:off x="6589263" y="2590075"/>
            <a:ext cx="2326200" cy="257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Per-Minute Efficiency Rating</a:t>
            </a:r>
            <a:endParaRPr sz="10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4" name="Google Shape;484;p49"/>
          <p:cNvSpPr/>
          <p:nvPr/>
        </p:nvSpPr>
        <p:spPr>
          <a:xfrm>
            <a:off x="6642176" y="2652534"/>
            <a:ext cx="142800" cy="14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85" name="Google Shape;485;p49"/>
          <p:cNvCxnSpPr/>
          <p:nvPr/>
        </p:nvCxnSpPr>
        <p:spPr>
          <a:xfrm>
            <a:off x="6713576" y="2795942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/>
          <p:nvPr/>
        </p:nvSpPr>
        <p:spPr>
          <a:xfrm>
            <a:off x="212850" y="1148446"/>
            <a:ext cx="2034600" cy="126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1" name="Google Shape;491;p50"/>
          <p:cNvSpPr txBox="1"/>
          <p:nvPr>
            <p:ph idx="5" type="body"/>
          </p:nvPr>
        </p:nvSpPr>
        <p:spPr>
          <a:xfrm>
            <a:off x="352550" y="2413125"/>
            <a:ext cx="15651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</a:rPr>
              <a:t>Carter's efficiency rating</a:t>
            </a:r>
            <a:endParaRPr b="1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</a:rPr>
              <a:t>- highest on the team</a:t>
            </a:r>
            <a:endParaRPr b="1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0"/>
          <p:cNvSpPr txBox="1"/>
          <p:nvPr>
            <p:ph type="title"/>
          </p:nvPr>
        </p:nvSpPr>
        <p:spPr>
          <a:xfrm>
            <a:off x="228600" y="256925"/>
            <a:ext cx="5707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Data-Driven Insights</a:t>
            </a:r>
            <a:endParaRPr/>
          </a:p>
        </p:txBody>
      </p:sp>
      <p:sp>
        <p:nvSpPr>
          <p:cNvPr id="493" name="Google Shape;493;p50"/>
          <p:cNvSpPr txBox="1"/>
          <p:nvPr>
            <p:ph idx="6" type="body"/>
          </p:nvPr>
        </p:nvSpPr>
        <p:spPr>
          <a:xfrm>
            <a:off x="2523400" y="3651250"/>
            <a:ext cx="14739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</a:rPr>
              <a:t>of players had at least one injury event</a:t>
            </a:r>
            <a:endParaRPr b="1" sz="1400">
              <a:solidFill>
                <a:schemeClr val="accent1"/>
              </a:solidFill>
            </a:endParaRPr>
          </a:p>
        </p:txBody>
      </p:sp>
      <p:sp>
        <p:nvSpPr>
          <p:cNvPr id="494" name="Google Shape;494;p50"/>
          <p:cNvSpPr txBox="1"/>
          <p:nvPr>
            <p:ph idx="7" type="body"/>
          </p:nvPr>
        </p:nvSpPr>
        <p:spPr>
          <a:xfrm>
            <a:off x="4800800" y="2413275"/>
            <a:ext cx="1474200" cy="8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</a:rPr>
              <a:t>more turnovers on the road vs. at home</a:t>
            </a:r>
            <a:endParaRPr b="1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495" name="Google Shape;495;p50"/>
          <p:cNvSpPr txBox="1"/>
          <p:nvPr>
            <p:ph idx="8" type="body"/>
          </p:nvPr>
        </p:nvSpPr>
        <p:spPr>
          <a:xfrm>
            <a:off x="6971700" y="3651250"/>
            <a:ext cx="1863300" cy="8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</a:rPr>
              <a:t>players improved their rating by end of season</a:t>
            </a:r>
            <a:endParaRPr b="1" sz="1400">
              <a:solidFill>
                <a:schemeClr val="accent1"/>
              </a:solidFill>
            </a:endParaRPr>
          </a:p>
        </p:txBody>
      </p:sp>
      <p:sp>
        <p:nvSpPr>
          <p:cNvPr id="496" name="Google Shape;496;p50"/>
          <p:cNvSpPr txBox="1"/>
          <p:nvPr>
            <p:ph idx="1" type="subTitle"/>
          </p:nvPr>
        </p:nvSpPr>
        <p:spPr>
          <a:xfrm>
            <a:off x="212850" y="1148467"/>
            <a:ext cx="2039100" cy="12648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0.92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7" name="Google Shape;497;p50"/>
          <p:cNvGrpSpPr/>
          <p:nvPr/>
        </p:nvGrpSpPr>
        <p:grpSpPr>
          <a:xfrm>
            <a:off x="2154358" y="641437"/>
            <a:ext cx="1474049" cy="270489"/>
            <a:chOff x="308528" y="1555007"/>
            <a:chExt cx="1986589" cy="270489"/>
          </a:xfrm>
        </p:grpSpPr>
        <p:sp>
          <p:nvSpPr>
            <p:cNvPr id="498" name="Google Shape;498;p50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99" name="Google Shape;499;p50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00" name="Google Shape;500;p50"/>
          <p:cNvSpPr/>
          <p:nvPr/>
        </p:nvSpPr>
        <p:spPr>
          <a:xfrm>
            <a:off x="2240800" y="2295221"/>
            <a:ext cx="2034600" cy="126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1" name="Google Shape;501;p50"/>
          <p:cNvSpPr txBox="1"/>
          <p:nvPr>
            <p:ph idx="1" type="subTitle"/>
          </p:nvPr>
        </p:nvSpPr>
        <p:spPr>
          <a:xfrm>
            <a:off x="2240800" y="2295242"/>
            <a:ext cx="2039100" cy="12648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80%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2" name="Google Shape;502;p50"/>
          <p:cNvSpPr/>
          <p:nvPr/>
        </p:nvSpPr>
        <p:spPr>
          <a:xfrm>
            <a:off x="4516100" y="1148434"/>
            <a:ext cx="2034600" cy="126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3" name="Google Shape;503;p50"/>
          <p:cNvSpPr txBox="1"/>
          <p:nvPr>
            <p:ph idx="1" type="subTitle"/>
          </p:nvPr>
        </p:nvSpPr>
        <p:spPr>
          <a:xfrm>
            <a:off x="4516100" y="1148454"/>
            <a:ext cx="2039100" cy="12648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+67</a:t>
            </a: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%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4" name="Google Shape;504;p50"/>
          <p:cNvSpPr/>
          <p:nvPr/>
        </p:nvSpPr>
        <p:spPr>
          <a:xfrm>
            <a:off x="6795900" y="2413284"/>
            <a:ext cx="2034600" cy="126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5" name="Google Shape;505;p50"/>
          <p:cNvSpPr txBox="1"/>
          <p:nvPr>
            <p:ph idx="1" type="subTitle"/>
          </p:nvPr>
        </p:nvSpPr>
        <p:spPr>
          <a:xfrm>
            <a:off x="6795900" y="2413304"/>
            <a:ext cx="2039100" cy="12648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oppins"/>
                <a:ea typeface="Poppins"/>
                <a:cs typeface="Poppins"/>
                <a:sym typeface="Poppins"/>
              </a:rPr>
              <a:t>6 / 10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/>
          <p:nvPr/>
        </p:nvSpPr>
        <p:spPr>
          <a:xfrm>
            <a:off x="401875" y="1173029"/>
            <a:ext cx="465000" cy="46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5200" lIns="105200" spcFirstLastPara="1" rIns="105200" wrap="square" tIns="10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511" name="Google Shape;511;p51"/>
          <p:cNvSpPr/>
          <p:nvPr/>
        </p:nvSpPr>
        <p:spPr>
          <a:xfrm>
            <a:off x="401875" y="1969331"/>
            <a:ext cx="465000" cy="46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5200" lIns="105200" spcFirstLastPara="1" rIns="105200" wrap="square" tIns="10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512" name="Google Shape;512;p51"/>
          <p:cNvSpPr/>
          <p:nvPr/>
        </p:nvSpPr>
        <p:spPr>
          <a:xfrm>
            <a:off x="401875" y="2765632"/>
            <a:ext cx="465000" cy="46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5200" lIns="105200" spcFirstLastPara="1" rIns="105200" wrap="square" tIns="10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513" name="Google Shape;513;p51"/>
          <p:cNvSpPr/>
          <p:nvPr/>
        </p:nvSpPr>
        <p:spPr>
          <a:xfrm>
            <a:off x="401875" y="3561933"/>
            <a:ext cx="465000" cy="46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5200" lIns="105200" spcFirstLastPara="1" rIns="105200" wrap="square" tIns="10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514" name="Google Shape;514;p51"/>
          <p:cNvSpPr/>
          <p:nvPr/>
        </p:nvSpPr>
        <p:spPr>
          <a:xfrm>
            <a:off x="401875" y="4358234"/>
            <a:ext cx="465000" cy="46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5200" lIns="105200" spcFirstLastPara="1" rIns="105200" wrap="square" tIns="10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cxnSp>
        <p:nvCxnSpPr>
          <p:cNvPr id="515" name="Google Shape;515;p51"/>
          <p:cNvCxnSpPr/>
          <p:nvPr/>
        </p:nvCxnSpPr>
        <p:spPr>
          <a:xfrm>
            <a:off x="989163" y="1801423"/>
            <a:ext cx="548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1"/>
          <p:cNvCxnSpPr/>
          <p:nvPr/>
        </p:nvCxnSpPr>
        <p:spPr>
          <a:xfrm>
            <a:off x="989163" y="2597724"/>
            <a:ext cx="548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51"/>
          <p:cNvCxnSpPr/>
          <p:nvPr/>
        </p:nvCxnSpPr>
        <p:spPr>
          <a:xfrm>
            <a:off x="989163" y="3394026"/>
            <a:ext cx="548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1"/>
          <p:cNvCxnSpPr/>
          <p:nvPr/>
        </p:nvCxnSpPr>
        <p:spPr>
          <a:xfrm>
            <a:off x="989163" y="4190327"/>
            <a:ext cx="548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51"/>
          <p:cNvSpPr txBox="1"/>
          <p:nvPr>
            <p:ph idx="4294967295" type="subTitle"/>
          </p:nvPr>
        </p:nvSpPr>
        <p:spPr>
          <a:xfrm>
            <a:off x="410045" y="1173029"/>
            <a:ext cx="465000" cy="4605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01</a:t>
            </a:r>
            <a:endParaRPr sz="1266"/>
          </a:p>
        </p:txBody>
      </p:sp>
      <p:sp>
        <p:nvSpPr>
          <p:cNvPr id="520" name="Google Shape;520;p51"/>
          <p:cNvSpPr txBox="1"/>
          <p:nvPr>
            <p:ph idx="4294967295" type="subTitle"/>
          </p:nvPr>
        </p:nvSpPr>
        <p:spPr>
          <a:xfrm>
            <a:off x="410045" y="1969331"/>
            <a:ext cx="465000" cy="4605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02</a:t>
            </a:r>
            <a:endParaRPr sz="1266"/>
          </a:p>
        </p:txBody>
      </p:sp>
      <p:sp>
        <p:nvSpPr>
          <p:cNvPr id="521" name="Google Shape;521;p51"/>
          <p:cNvSpPr txBox="1"/>
          <p:nvPr>
            <p:ph idx="4294967295" type="subTitle"/>
          </p:nvPr>
        </p:nvSpPr>
        <p:spPr>
          <a:xfrm>
            <a:off x="410045" y="2765632"/>
            <a:ext cx="465000" cy="4605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03</a:t>
            </a:r>
            <a:endParaRPr sz="1266"/>
          </a:p>
        </p:txBody>
      </p:sp>
      <p:sp>
        <p:nvSpPr>
          <p:cNvPr id="522" name="Google Shape;522;p51"/>
          <p:cNvSpPr txBox="1"/>
          <p:nvPr>
            <p:ph idx="4294967295" type="subTitle"/>
          </p:nvPr>
        </p:nvSpPr>
        <p:spPr>
          <a:xfrm>
            <a:off x="410045" y="3561933"/>
            <a:ext cx="465000" cy="4605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04</a:t>
            </a:r>
            <a:endParaRPr sz="1266"/>
          </a:p>
        </p:txBody>
      </p:sp>
      <p:sp>
        <p:nvSpPr>
          <p:cNvPr id="523" name="Google Shape;523;p51"/>
          <p:cNvSpPr txBox="1"/>
          <p:nvPr>
            <p:ph idx="4294967295" type="subTitle"/>
          </p:nvPr>
        </p:nvSpPr>
        <p:spPr>
          <a:xfrm>
            <a:off x="410045" y="4343132"/>
            <a:ext cx="465000" cy="4605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05</a:t>
            </a:r>
            <a:endParaRPr sz="1266"/>
          </a:p>
        </p:txBody>
      </p:sp>
      <p:sp>
        <p:nvSpPr>
          <p:cNvPr id="524" name="Google Shape;524;p51"/>
          <p:cNvSpPr txBox="1"/>
          <p:nvPr>
            <p:ph idx="4294967295" type="subTitle"/>
          </p:nvPr>
        </p:nvSpPr>
        <p:spPr>
          <a:xfrm>
            <a:off x="872315" y="1142825"/>
            <a:ext cx="4440300" cy="5208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/>
              <a:t>Protect Carter</a:t>
            </a:r>
            <a:endParaRPr sz="1841"/>
          </a:p>
        </p:txBody>
      </p:sp>
      <p:sp>
        <p:nvSpPr>
          <p:cNvPr id="525" name="Google Shape;525;p51"/>
          <p:cNvSpPr txBox="1"/>
          <p:nvPr>
            <p:ph idx="4294967295" type="subTitle"/>
          </p:nvPr>
        </p:nvSpPr>
        <p:spPr>
          <a:xfrm>
            <a:off x="872315" y="1939126"/>
            <a:ext cx="4440300" cy="5208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/>
              <a:t>Injury prevention program</a:t>
            </a:r>
            <a:endParaRPr sz="1841"/>
          </a:p>
        </p:txBody>
      </p:sp>
      <p:sp>
        <p:nvSpPr>
          <p:cNvPr id="526" name="Google Shape;526;p51"/>
          <p:cNvSpPr txBox="1"/>
          <p:nvPr>
            <p:ph idx="4294967295" type="subTitle"/>
          </p:nvPr>
        </p:nvSpPr>
        <p:spPr>
          <a:xfrm>
            <a:off x="872315" y="2735427"/>
            <a:ext cx="4440300" cy="5208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/>
              <a:t>Road balls security drills</a:t>
            </a:r>
            <a:endParaRPr sz="1841"/>
          </a:p>
        </p:txBody>
      </p:sp>
      <p:sp>
        <p:nvSpPr>
          <p:cNvPr id="527" name="Google Shape;527;p51"/>
          <p:cNvSpPr txBox="1"/>
          <p:nvPr>
            <p:ph idx="4294967295" type="subTitle"/>
          </p:nvPr>
        </p:nvSpPr>
        <p:spPr>
          <a:xfrm>
            <a:off x="872315" y="3531729"/>
            <a:ext cx="4440300" cy="5208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/>
              <a:t>Rating-based rotations</a:t>
            </a:r>
            <a:endParaRPr sz="1841"/>
          </a:p>
        </p:txBody>
      </p:sp>
      <p:sp>
        <p:nvSpPr>
          <p:cNvPr id="528" name="Google Shape;528;p51"/>
          <p:cNvSpPr txBox="1"/>
          <p:nvPr>
            <p:ph idx="4294967295" type="subTitle"/>
          </p:nvPr>
        </p:nvSpPr>
        <p:spPr>
          <a:xfrm>
            <a:off x="872315" y="4328030"/>
            <a:ext cx="4440300" cy="520800"/>
          </a:xfrm>
          <a:prstGeom prst="rect">
            <a:avLst/>
          </a:prstGeom>
        </p:spPr>
        <p:txBody>
          <a:bodyPr anchorCtr="0" anchor="t" bIns="105200" lIns="105200" spcFirstLastPara="1" rIns="105200" wrap="square" tIns="10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/>
              <a:t>Recruit SG &amp; PG depth</a:t>
            </a:r>
            <a:endParaRPr sz="1841"/>
          </a:p>
        </p:txBody>
      </p:sp>
      <p:sp>
        <p:nvSpPr>
          <p:cNvPr id="529" name="Google Shape;529;p51"/>
          <p:cNvSpPr txBox="1"/>
          <p:nvPr>
            <p:ph type="title"/>
          </p:nvPr>
        </p:nvSpPr>
        <p:spPr>
          <a:xfrm>
            <a:off x="228600" y="228600"/>
            <a:ext cx="4803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530" name="Google Shape;530;p51"/>
          <p:cNvSpPr/>
          <p:nvPr/>
        </p:nvSpPr>
        <p:spPr>
          <a:xfrm rot="188826">
            <a:off x="332674" y="752283"/>
            <a:ext cx="1440087" cy="45350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2"/>
          <p:cNvSpPr txBox="1"/>
          <p:nvPr>
            <p:ph type="title"/>
          </p:nvPr>
        </p:nvSpPr>
        <p:spPr>
          <a:xfrm>
            <a:off x="1152000" y="1708500"/>
            <a:ext cx="68400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tool coaches can ACTUALLY use. </a:t>
            </a:r>
            <a:endParaRPr/>
          </a:p>
        </p:txBody>
      </p:sp>
      <p:sp>
        <p:nvSpPr>
          <p:cNvPr id="536" name="Google Shape;536;p52"/>
          <p:cNvSpPr txBox="1"/>
          <p:nvPr>
            <p:ph idx="1" type="subTitle"/>
          </p:nvPr>
        </p:nvSpPr>
        <p:spPr>
          <a:xfrm>
            <a:off x="2351700" y="3863625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Nunito Sans"/>
                <a:ea typeface="Nunito Sans"/>
                <a:cs typeface="Nunito Sans"/>
                <a:sym typeface="Nunito Sans"/>
              </a:rPr>
              <a:t>Thank you!</a:t>
            </a:r>
            <a:endParaRPr b="1" sz="19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37" name="Google Shape;537;p52"/>
          <p:cNvSpPr/>
          <p:nvPr/>
        </p:nvSpPr>
        <p:spPr>
          <a:xfrm>
            <a:off x="5078850" y="3258352"/>
            <a:ext cx="1182446" cy="158902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8" name="Google Shape;538;p52"/>
          <p:cNvSpPr/>
          <p:nvPr/>
        </p:nvSpPr>
        <p:spPr>
          <a:xfrm>
            <a:off x="5078850" y="3334552"/>
            <a:ext cx="1182446" cy="158902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